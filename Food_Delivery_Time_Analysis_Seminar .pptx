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/>
            </a:pPr>
            <a:r>
              <a:rPr lang="en-US"/>
              <a:t>Average delivery time by traffic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Very Low</c:v>
                </c:pt>
                <c:pt idx="1">
                  <c:v>Low</c:v>
                </c:pt>
                <c:pt idx="2">
                  <c:v>Moderate</c:v>
                </c:pt>
                <c:pt idx="3">
                  <c:v>High</c:v>
                </c:pt>
                <c:pt idx="4">
                  <c:v>Very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13.89</c:v>
                </c:pt>
                <c:pt idx="1">
                  <c:v>21.4</c:v>
                </c:pt>
                <c:pt idx="2">
                  <c:v>31.34</c:v>
                </c:pt>
                <c:pt idx="3">
                  <c:v>42.76</c:v>
                </c:pt>
                <c:pt idx="4">
                  <c:v>62.26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9C-41E9-8DE5-18DCE5FF8C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IN"/>
                  <a:t>Delivery time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US"/>
              <a:t>Average time by order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Meal</c:v>
                </c:pt>
                <c:pt idx="1">
                  <c:v>Buffet</c:v>
                </c:pt>
                <c:pt idx="2">
                  <c:v>Snack</c:v>
                </c:pt>
                <c:pt idx="3">
                  <c:v>Drinks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33.9</c:v>
                </c:pt>
                <c:pt idx="1">
                  <c:v>35.44</c:v>
                </c:pt>
                <c:pt idx="2">
                  <c:v>38.049999999999997</c:v>
                </c:pt>
                <c:pt idx="3">
                  <c:v>43.14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4B-4968-8AB4-3B73E7E679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IN"/>
                  <a:t>Delivery time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731520"/>
            <a:ext cx="1920240" cy="1920240"/>
          </a:xfrm>
          <a:prstGeom prst="ellipse">
            <a:avLst/>
          </a:prstGeom>
          <a:solidFill>
            <a:srgbClr val="27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011680"/>
            <a:ext cx="1463040" cy="1463040"/>
          </a:xfrm>
          <a:prstGeom prst="ellipse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834640"/>
            <a:ext cx="914400" cy="914400"/>
          </a:xfrm>
          <a:prstGeom prst="ellipse">
            <a:avLst/>
          </a:prstGeom>
          <a:solidFill>
            <a:srgbClr val="F5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4023360"/>
            <a:ext cx="1097280" cy="1097280"/>
          </a:xfrm>
          <a:prstGeom prst="ellipse">
            <a:avLst/>
          </a:prstGeom>
          <a:solidFill>
            <a:srgbClr val="27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58368"/>
            <a:ext cx="7132320" cy="3477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9A6A3"/>
                </a:solidFill>
                <a:latin typeface="Aptos"/>
              </a:defRPr>
            </a:pPr>
            <a:r>
              <a:rPr dirty="0"/>
              <a:t>SEMINAR PRESENTATION  |  </a:t>
            </a:r>
            <a:r>
              <a:rPr lang="en-IN" sz="1200" b="1" dirty="0">
                <a:solidFill>
                  <a:srgbClr val="19A6A3"/>
                </a:solidFill>
                <a:latin typeface="Aptos"/>
              </a:rPr>
              <a:t>BUSINESS ANALYTICS AND VISUALIZATION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680960" cy="1508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Food Delivery Time</a:t>
            </a:r>
            <a:br/>
            <a: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667512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900" b="0">
                <a:solidFill>
                  <a:srgbClr val="D8E2F0"/>
                </a:solidFill>
                <a:latin typeface="Aptos"/>
              </a:defRPr>
            </a:pPr>
            <a:r>
              <a:t>Understanding how traffic, weather, distance and order type relate to delivery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61264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Python • Pandas • Seaborn • Exploratory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172200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Presenter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657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200" b="1">
                <a:solidFill>
                  <a:srgbClr val="19A6A3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5303520" cy="120244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lnSpc>
                <a:spcPct val="150000"/>
              </a:lnSpc>
              <a:defRPr sz="2800" b="1">
                <a:solidFill>
                  <a:srgbClr val="111F3A"/>
                </a:solidFill>
                <a:latin typeface="Aptos"/>
              </a:defRPr>
            </a:pPr>
            <a:r>
              <a:rPr sz="2400" dirty="0"/>
              <a:t>Nilesh Makwana</a:t>
            </a:r>
            <a:r>
              <a:rPr lang="en-US" sz="2400" dirty="0"/>
              <a:t> (12302120601046)</a:t>
            </a:r>
          </a:p>
          <a:p>
            <a:pPr>
              <a:lnSpc>
                <a:spcPct val="150000"/>
              </a:lnSpc>
              <a:defRPr sz="2800" b="1">
                <a:solidFill>
                  <a:srgbClr val="111F3A"/>
                </a:solidFill>
                <a:latin typeface="Aptos"/>
              </a:defRPr>
            </a:pPr>
            <a:r>
              <a:rPr lang="en-US" sz="2400" dirty="0"/>
              <a:t>Kartik Solanki (12302120601026)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9148"/>
            <a:ext cx="5120640" cy="6401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600" b="0">
                <a:solidFill>
                  <a:srgbClr val="1F2B3D"/>
                </a:solidFill>
                <a:latin typeface="Aptos"/>
              </a:defRPr>
            </a:pPr>
            <a:r>
              <a:rPr dirty="0"/>
              <a:t>Faculty Guide: </a:t>
            </a:r>
            <a:r>
              <a:rPr lang="en-US" dirty="0"/>
              <a:t>Prof. Vimal Bhatt</a:t>
            </a:r>
            <a:br>
              <a:rPr dirty="0"/>
            </a:br>
            <a:r>
              <a:rPr dirty="0"/>
              <a:t>Academic Year: 2026–27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47548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737360"/>
            <a:ext cx="393192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2767BE"/>
                </a:solidFill>
                <a:latin typeface="Aptos"/>
              </a:defRPr>
            </a:pPr>
            <a:r>
              <a:t>PROJECT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23160"/>
            <a:ext cx="137160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5F6D82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251460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1F2B3D"/>
                </a:solidFill>
                <a:latin typeface="Aptos"/>
              </a:defRPr>
            </a:pPr>
            <a:r>
              <a:rPr lang="en-US" dirty="0" err="1"/>
              <a:t>Buisness</a:t>
            </a:r>
            <a:r>
              <a:rPr lang="en-US" dirty="0"/>
              <a:t> </a:t>
            </a:r>
            <a:r>
              <a:rPr dirty="0"/>
              <a:t>Data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081528"/>
            <a:ext cx="137160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5F6D82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81528"/>
            <a:ext cx="251460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1F2B3D"/>
                </a:solidFill>
                <a:latin typeface="Aptos"/>
              </a:defRPr>
            </a:pPr>
            <a:r>
              <a:t>Food delivery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39896"/>
            <a:ext cx="137160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5F6D82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739896"/>
            <a:ext cx="251460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1F2B3D"/>
                </a:solidFill>
                <a:latin typeface="Aptos"/>
              </a:defRPr>
            </a:pPr>
            <a:r>
              <a:t>10,001 raw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398264"/>
            <a:ext cx="137160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5F6D82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98264"/>
            <a:ext cx="251460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1F2B3D"/>
                </a:solidFill>
                <a:latin typeface="Aptos"/>
              </a:defRPr>
            </a:pPr>
            <a:r>
              <a:t>Delivery time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1206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19A6A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212080" cy="1417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100" b="1">
                <a:solidFill>
                  <a:srgbClr val="111F3A"/>
                </a:solidFill>
                <a:latin typeface="Aptos"/>
              </a:defRPr>
            </a:pPr>
            <a:r>
              <a:t>Delivery delays affect customer satisfaction, operations and delivery costs. Teams need evidence to understand which factors are associated with longer delivery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2767BE"/>
                </a:solidFill>
                <a:latin typeface="Aptos"/>
              </a:defRPr>
            </a:pPr>
            <a:r>
              <a:t>WHY ANALYZE THE DATA?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5120640" cy="38404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t>•  Identify patterns across traffic, weather and order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t>•  Understand the relationship between travel distance and delivery time.</a:t>
            </a:r>
          </a:p>
          <a:p>
            <a:pPr>
              <a:spcAft>
                <a:spcPts val="1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t>•  Compare vehicle types and delivery-person ratings.</a:t>
            </a:r>
          </a:p>
          <a:p>
            <a:pPr>
              <a:spcAft>
                <a:spcPts val="1200"/>
              </a:spcAft>
              <a:defRPr sz="1700">
                <a:solidFill>
                  <a:srgbClr val="1F2B3D"/>
                </a:solidFill>
                <a:latin typeface="Aptos"/>
              </a:defRPr>
            </a:pPr>
            <a:r>
              <a:t>•  Turn raw records into practical operational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59436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400" b="1">
                <a:solidFill>
                  <a:srgbClr val="19A6A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00200"/>
            <a:ext cx="38862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800" b="1">
                <a:solidFill>
                  <a:srgbClr val="111F3A"/>
                </a:solidFill>
                <a:latin typeface="Aptos"/>
              </a:defRPr>
            </a:pPr>
            <a:r>
              <a:t>Prepare reliable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75688"/>
            <a:ext cx="388620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5F6D82"/>
                </a:solidFill>
                <a:latin typeface="Aptos"/>
              </a:defRPr>
            </a:pPr>
            <a:r>
              <a:t>Inspect missing values, duplicates and data 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18488"/>
            <a:ext cx="59436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400" b="1">
                <a:solidFill>
                  <a:srgbClr val="19A6A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600200"/>
            <a:ext cx="38862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800" b="1">
                <a:solidFill>
                  <a:srgbClr val="111F3A"/>
                </a:solidFill>
                <a:latin typeface="Aptos"/>
              </a:defRPr>
            </a:pPr>
            <a:r>
              <a:t>Summarize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075688"/>
            <a:ext cx="388620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5F6D82"/>
                </a:solidFill>
                <a:latin typeface="Aptos"/>
              </a:defRPr>
            </a:pPr>
            <a:r>
              <a:t>Measure average, median and range of delivery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59436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400" b="1">
                <a:solidFill>
                  <a:srgbClr val="19A6A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49040"/>
            <a:ext cx="38862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800" b="1">
                <a:solidFill>
                  <a:srgbClr val="111F3A"/>
                </a:solidFill>
                <a:latin typeface="Aptos"/>
              </a:defRPr>
            </a:pPr>
            <a:r>
              <a:t>Compare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24528"/>
            <a:ext cx="388620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5F6D82"/>
                </a:solidFill>
                <a:latin typeface="Aptos"/>
              </a:defRPr>
            </a:pPr>
            <a:r>
              <a:t>Analyze order type, traffic, weather and vehicle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56616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767328"/>
            <a:ext cx="59436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400" b="1">
                <a:solidFill>
                  <a:srgbClr val="19A6A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749040"/>
            <a:ext cx="38862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800" b="1">
                <a:solidFill>
                  <a:srgbClr val="111F3A"/>
                </a:solidFill>
                <a:latin typeface="Aptos"/>
              </a:defRPr>
            </a:pPr>
            <a:r>
              <a:t>Communicate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224528"/>
            <a:ext cx="388620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5F6D82"/>
                </a:solidFill>
                <a:latin typeface="Aptos"/>
              </a:defRPr>
            </a:pPr>
            <a:r>
              <a:t>Use charts and summary tables to support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27048"/>
            <a:ext cx="215798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10,001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39112"/>
            <a:ext cx="215798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Raw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527048"/>
            <a:ext cx="215798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039112"/>
            <a:ext cx="215798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417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3328" y="1527048"/>
            <a:ext cx="215798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9,040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039112"/>
            <a:ext cx="215798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Rows with delivery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417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9367" y="1527048"/>
            <a:ext cx="215798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9,080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7" y="2039112"/>
            <a:ext cx="215798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Rows with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46634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19A6A3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5029200" cy="23317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Delivery Time and Distance</a:t>
            </a:r>
          </a:p>
          <a:p>
            <a:pPr>
              <a:spcAft>
                <a:spcPts val="7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Order Type and Vehicle Type</a:t>
            </a:r>
          </a:p>
          <a:p>
            <a:pPr>
              <a:spcAft>
                <a:spcPts val="7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Traffic Level and Weather Description</a:t>
            </a:r>
          </a:p>
          <a:p>
            <a:pPr>
              <a:spcAft>
                <a:spcPts val="7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Delivery Person Ratings</a:t>
            </a:r>
          </a:p>
          <a:p>
            <a:pPr>
              <a:spcAft>
                <a:spcPts val="7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Temperature, humidity and precipitation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46634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2767BE"/>
                </a:solidFill>
                <a:latin typeface="Aptos"/>
              </a:defRPr>
            </a:pPr>
            <a:r>
              <a:t>DATA SOURCE &amp;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657600"/>
            <a:ext cx="4846320" cy="21945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Excel dataset: foodtimedataset.xlsx</a:t>
            </a:r>
          </a:p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Python notebook in Google Colab</a:t>
            </a:r>
          </a:p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Pandas and NumPy for processing</a:t>
            </a:r>
          </a:p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Matplotlib and Seaborn for 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691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371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400" b="1">
                <a:solidFill>
                  <a:srgbClr val="19A6A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1508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11F3A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063240"/>
            <a:ext cx="14630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F6D82"/>
                </a:solidFill>
                <a:latin typeface="Aptos"/>
              </a:defRPr>
            </a:pPr>
            <a:r>
              <a:t>Import Excel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606040"/>
            <a:ext cx="228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300" b="1">
                <a:solidFill>
                  <a:srgbClr val="F59A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1828800"/>
            <a:ext cx="1691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8608" y="2011680"/>
            <a:ext cx="1371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400" b="1">
                <a:solidFill>
                  <a:srgbClr val="19A6A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606040"/>
            <a:ext cx="1508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11F3A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3063240"/>
            <a:ext cx="14630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F6D82"/>
                </a:solidFill>
                <a:latin typeface="Aptos"/>
              </a:defRPr>
            </a:pPr>
            <a:r>
              <a:t>Schema, nulls, 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2606040"/>
            <a:ext cx="228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300" b="1">
                <a:solidFill>
                  <a:srgbClr val="F59A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1828800"/>
            <a:ext cx="1691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7136" y="2011680"/>
            <a:ext cx="1371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400" b="1">
                <a:solidFill>
                  <a:srgbClr val="19A6A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606040"/>
            <a:ext cx="1508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11F3A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063240"/>
            <a:ext cx="14630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F6D82"/>
                </a:solidFill>
                <a:latin typeface="Aptos"/>
              </a:defRPr>
            </a:pPr>
            <a:r>
              <a:t>Drop blank rows/duplicates; impute selected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2606040"/>
            <a:ext cx="228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300" b="1">
                <a:solidFill>
                  <a:srgbClr val="F59A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1828800"/>
            <a:ext cx="1691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5664" y="2011680"/>
            <a:ext cx="1371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400" b="1">
                <a:solidFill>
                  <a:srgbClr val="19A6A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606040"/>
            <a:ext cx="1508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11F3A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063240"/>
            <a:ext cx="14630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F6D82"/>
                </a:solidFill>
                <a:latin typeface="Aptos"/>
              </a:defRPr>
            </a:pPr>
            <a:r>
              <a:t>Statistics and grouped comparisons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606040"/>
            <a:ext cx="228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300" b="1">
                <a:solidFill>
                  <a:srgbClr val="F59A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2" y="1828800"/>
            <a:ext cx="1691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2011680"/>
            <a:ext cx="1371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400" b="1">
                <a:solidFill>
                  <a:srgbClr val="19A6A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606040"/>
            <a:ext cx="1508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11F3A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063240"/>
            <a:ext cx="14630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F6D82"/>
                </a:solidFill>
                <a:latin typeface="Aptos"/>
              </a:defRPr>
            </a:pPr>
            <a:r>
              <a:t>Bar charts and scatter plot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606040"/>
            <a:ext cx="228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300" b="1">
                <a:solidFill>
                  <a:srgbClr val="F59A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1828800"/>
            <a:ext cx="1691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0" y="2011680"/>
            <a:ext cx="1371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400" b="1">
                <a:solidFill>
                  <a:srgbClr val="19A6A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606040"/>
            <a:ext cx="1508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11F3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3063240"/>
            <a:ext cx="14630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F6D82"/>
                </a:solidFill>
                <a:latin typeface="Aptos"/>
              </a:defRPr>
            </a:pPr>
            <a:r>
              <a:t>Check final data quality and export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70916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600" b="0">
                <a:solidFill>
                  <a:srgbClr val="1F2B3D"/>
                </a:solidFill>
                <a:latin typeface="Aptos"/>
              </a:defRPr>
            </a:pPr>
            <a:r>
              <a:t>Analysis approach: descriptive statistics + group-by comparisons + correlation analysis. This is exploratory analysis, not a causal or predictive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Data Cleaning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27048"/>
            <a:ext cx="2112263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2,832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2112263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Missing cells initially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527048"/>
            <a:ext cx="2112263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039112"/>
            <a:ext cx="2112263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Rows after cleaning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07608" y="1527048"/>
            <a:ext cx="2112263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039112"/>
            <a:ext cx="2112263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Duplicate rows after 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1527048"/>
            <a:ext cx="2112263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1,880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039112"/>
            <a:ext cx="2112263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Missing distance/time cells remain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10424160" cy="2560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Removed fully empty rows and duplicate rows.</a:t>
            </a:r>
          </a:p>
          <a:p>
            <a:pPr>
              <a:spcAft>
                <a:spcPts val="8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Removed the record with missing delivery ID.</a:t>
            </a:r>
          </a:p>
          <a:p>
            <a:pPr>
              <a:spcAft>
                <a:spcPts val="8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Filled missing numeric profile/weather fields using medians.</a:t>
            </a:r>
          </a:p>
          <a:p>
            <a:pPr>
              <a:spcAft>
                <a:spcPts val="8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Filled missing categorical fields with “Unknown”.</a:t>
            </a:r>
          </a:p>
          <a:p>
            <a:pPr>
              <a:spcAft>
                <a:spcPts val="8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Distance and Delivery Time were retained as missing when unavailable, rather than imputed.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200" b="1">
                <a:solidFill>
                  <a:srgbClr val="F59A42"/>
                </a:solidFill>
                <a:latin typeface="Aptos"/>
              </a:defRPr>
            </a:pPr>
            <a:r>
              <a:t>Validation note: 9 duplicate delivery IDs remained; these are not the same as duplicate full 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Results: Overall Delivery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27048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37.66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39112"/>
            <a:ext cx="220370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Average delivery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1527048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35.98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039112"/>
            <a:ext cx="220370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Median delivery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527048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14.29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039112"/>
            <a:ext cx="220370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Average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96528" y="1527048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9A6A3"/>
                </a:solidFill>
                <a:latin typeface="Aptos"/>
              </a:defRPr>
            </a:pPr>
            <a:r>
              <a:t>4.63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039112"/>
            <a:ext cx="2203704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F6D82"/>
                </a:solidFill>
                <a:latin typeface="Aptos"/>
              </a:defRPr>
            </a:pPr>
            <a:r>
              <a:t>Average delivery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49377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19A6A3"/>
                </a:solidFill>
                <a:latin typeface="Aptos"/>
              </a:defRPr>
            </a:pPr>
            <a:r>
              <a:t>DELIVERY TIME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484632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500" b="1">
                <a:solidFill>
                  <a:srgbClr val="111F3A"/>
                </a:solidFill>
                <a:latin typeface="Aptos"/>
              </a:defRPr>
            </a:pPr>
            <a:r>
              <a:t>5.80 to 157.75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48463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0">
                <a:solidFill>
                  <a:srgbClr val="5F6D82"/>
                </a:solidFill>
                <a:latin typeface="Aptos"/>
              </a:defRPr>
            </a:pPr>
            <a:r>
              <a:t>Minimum to maximum observed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12080"/>
            <a:ext cx="4480560" cy="73152"/>
          </a:xfrm>
          <a:prstGeom prst="rect">
            <a:avLst/>
          </a:prstGeom>
          <a:solidFill>
            <a:srgbClr val="DE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8" y="5129784"/>
            <a:ext cx="228600" cy="228600"/>
          </a:xfrm>
          <a:prstGeom prst="ellipse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468112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000" b="1">
                <a:solidFill>
                  <a:srgbClr val="5F6D82"/>
                </a:solidFill>
                <a:latin typeface="Aptos"/>
              </a:defRPr>
            </a:pPr>
            <a:r>
              <a:t>5.80</a:t>
            </a:r>
          </a:p>
        </p:txBody>
      </p:sp>
      <p:sp>
        <p:nvSpPr>
          <p:cNvPr id="25" name="Oval 24"/>
          <p:cNvSpPr/>
          <p:nvPr/>
        </p:nvSpPr>
        <p:spPr>
          <a:xfrm>
            <a:off x="5047488" y="5129784"/>
            <a:ext cx="228600" cy="228600"/>
          </a:xfrm>
          <a:prstGeom prst="ellipse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5468112"/>
            <a:ext cx="6400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000" b="1">
                <a:solidFill>
                  <a:srgbClr val="5F6D82"/>
                </a:solidFill>
                <a:latin typeface="Aptos"/>
              </a:defRPr>
            </a:pPr>
            <a:r>
              <a:t>157.75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383280"/>
            <a:ext cx="48463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800" b="1">
                <a:solidFill>
                  <a:srgbClr val="2767B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31920"/>
            <a:ext cx="4754880" cy="1417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800" b="0">
                <a:solidFill>
                  <a:srgbClr val="1F2B3D"/>
                </a:solidFill>
                <a:latin typeface="Aptos"/>
              </a:defRPr>
            </a:pPr>
            <a:r>
              <a:t>Delivery time varies substantially. The mean is slightly above the median, suggesting that some long deliveries pull the average upward.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Results: Traffic Level vs Delivery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18120" y="1645920"/>
            <a:ext cx="33832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19A6A3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48840"/>
            <a:ext cx="347472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3000" b="1">
                <a:solidFill>
                  <a:srgbClr val="111F3A"/>
                </a:solidFill>
                <a:latin typeface="Aptos"/>
              </a:defRPr>
            </a:pPr>
            <a:r>
              <a:t>62.26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834640"/>
            <a:ext cx="34747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5F6D82"/>
                </a:solidFill>
                <a:latin typeface="Aptos"/>
              </a:defRPr>
            </a:pPr>
            <a:r>
              <a:t>Very high traffic: average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703320"/>
            <a:ext cx="3474720" cy="10972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2767BE"/>
                </a:solidFill>
                <a:latin typeface="Aptos"/>
              </a:defRPr>
            </a:pPr>
            <a:r>
              <a:t>13.89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297680"/>
            <a:ext cx="34747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5F6D82"/>
                </a:solidFill>
                <a:latin typeface="Aptos"/>
              </a:defRPr>
            </a:pPr>
            <a:r>
              <a:t>Very low traffic: average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166360"/>
            <a:ext cx="338328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0">
                <a:solidFill>
                  <a:srgbClr val="1F2B3D"/>
                </a:solidFill>
                <a:latin typeface="Aptos"/>
              </a:defRPr>
            </a:pPr>
            <a:r>
              <a:t>Delivery time rises as traffic level increases in this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Results: Order Type &amp;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32588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417320"/>
            <a:ext cx="493776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19A6A3"/>
                </a:solidFill>
                <a:latin typeface="Aptos"/>
              </a:defRPr>
            </a:pPr>
            <a:r>
              <a:t>DISTANCE IS STRONGLY ASSOCIATED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r = 0.869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51760"/>
            <a:ext cx="493776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700" b="0">
                <a:solidFill>
                  <a:srgbClr val="1F2B3D"/>
                </a:solidFill>
                <a:latin typeface="Aptos"/>
              </a:defRPr>
            </a:pPr>
            <a:r>
              <a:t>A strong positive correlation was observed between distance and delivery time across 9,035 valid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886200"/>
            <a:ext cx="493776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1">
                <a:solidFill>
                  <a:srgbClr val="2767BE"/>
                </a:solidFill>
                <a:latin typeface="Aptos"/>
              </a:defRPr>
            </a:pPr>
            <a:r>
              <a:t>ORDER-TYPE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343400"/>
            <a:ext cx="4846320" cy="10972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700" b="0">
                <a:solidFill>
                  <a:srgbClr val="1F2B3D"/>
                </a:solidFill>
                <a:latin typeface="Aptos"/>
              </a:defRPr>
            </a:pPr>
            <a:r>
              <a:t>Drinks had the highest average delivery time (43.14); Meals had the lowest (33.90).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623560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100" b="1">
                <a:solidFill>
                  <a:srgbClr val="F59A42"/>
                </a:solidFill>
                <a:latin typeface="Aptos"/>
              </a:defRPr>
            </a:pPr>
            <a:r>
              <a:t>Correlation does not prove causation.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700" b="1">
                <a:solidFill>
                  <a:srgbClr val="111F3A"/>
                </a:solidFill>
                <a:latin typeface="Aptos"/>
              </a:defRPr>
            </a:pPr>
            <a:r>
              <a:t>Conclusion, Recommendations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56616"/>
            <a:ext cx="1325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2767BE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8229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900" b="0">
                <a:solidFill>
                  <a:srgbClr val="5F6D82"/>
                </a:solidFill>
                <a:latin typeface="Aptos"/>
              </a:defRPr>
            </a:pPr>
            <a:r>
              <a:t>FOOD DELIVERY TIME ANALYSIS  •  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D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19A6A3"/>
                </a:solidFill>
                <a:latin typeface="Aptos"/>
              </a:defRPr>
            </a:pPr>
            <a:r>
              <a:t>MAIN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166360" cy="237744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Traffic level and distance are the clearest observed delivery-time patterns.</a:t>
            </a:r>
          </a:p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Drinks showed the longest average delivery time among order types.</a:t>
            </a:r>
          </a:p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Weather and vehicle comparisons can guide further investigation.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493776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400" b="1">
                <a:solidFill>
                  <a:srgbClr val="2767BE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074920" cy="237744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Use traffic-aware ETAs and route planning.</a:t>
            </a:r>
          </a:p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Review long-distance orders and delivery outliers.</a:t>
            </a:r>
          </a:p>
          <a:p>
            <a:pPr>
              <a:spcAft>
                <a:spcPts val="1000"/>
              </a:spcAft>
              <a:defRPr sz="1600">
                <a:solidFill>
                  <a:srgbClr val="1F2B3D"/>
                </a:solidFill>
                <a:latin typeface="Aptos"/>
              </a:defRPr>
            </a:pPr>
            <a:r>
              <a:t>•  Collect more complete weather and delivery-time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17720"/>
            <a:ext cx="10561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200" b="1">
                <a:solidFill>
                  <a:srgbClr val="F59A42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754880"/>
            <a:ext cx="832104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300" b="0">
                <a:solidFill>
                  <a:srgbClr val="1F2B3D"/>
                </a:solidFill>
                <a:latin typeface="Aptos"/>
              </a:defRPr>
            </a:pPr>
            <a:r>
              <a:t>Exploratory dataset; missing delivery time/distance values; duplicate IDs; weather category “moderate rain” had only one record. Results show association, not causation.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822960"/>
            <a:ext cx="1645920" cy="1645920"/>
          </a:xfrm>
          <a:prstGeom prst="ellipse">
            <a:avLst/>
          </a:prstGeom>
          <a:solidFill>
            <a:srgbClr val="19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2011680"/>
            <a:ext cx="1097280" cy="1097280"/>
          </a:xfrm>
          <a:prstGeom prst="ellipse">
            <a:avLst/>
          </a:prstGeom>
          <a:solidFill>
            <a:srgbClr val="F5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3017520"/>
            <a:ext cx="1188720" cy="1188720"/>
          </a:xfrm>
          <a:prstGeom prst="ellipse">
            <a:avLst/>
          </a:prstGeom>
          <a:solidFill>
            <a:srgbClr val="27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667512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694944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2300" b="1">
                <a:solidFill>
                  <a:srgbClr val="19A6A3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13232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800" b="0">
                <a:solidFill>
                  <a:srgbClr val="DCE6F2"/>
                </a:solidFill>
                <a:latin typeface="Aptos"/>
              </a:defRPr>
            </a:pPr>
            <a:r>
              <a:t>Food Delivery Time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172200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825</Words>
  <Application>Microsoft Office PowerPoint</Application>
  <PresentationFormat>Widescreen</PresentationFormat>
  <Paragraphs>179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nilesh makwana</cp:lastModifiedBy>
  <cp:revision>2</cp:revision>
  <dcterms:created xsi:type="dcterms:W3CDTF">2013-01-27T09:14:16Z</dcterms:created>
  <dcterms:modified xsi:type="dcterms:W3CDTF">2026-10-21T16:10:27Z</dcterms:modified>
  <cp:category/>
</cp:coreProperties>
</file>